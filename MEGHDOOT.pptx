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74519"/>
            <a:ext cx="12188952" cy="3017520"/>
          </a:xfrm>
          <a:prstGeom prst="rect">
            <a:avLst/>
          </a:prstGeom>
          <a:solidFill>
            <a:srgbClr val="06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430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0" b="1" i="0">
                <a:solidFill>
                  <a:srgbClr val="F5A623"/>
                </a:solidFill>
                <a:latin typeface="Calibri"/>
              </a:rPr>
              <a:t>SHEETAL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Sustainable Hydrogel-Enabled Energy Efficient Thermal
Augmentation for Air-conditioning Load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00878A"/>
                </a:solidFill>
                <a:latin typeface="Calibri"/>
              </a:rPr>
              <a:t>Indian innovation for energy-efficient cooling.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CA0B8"/>
                </a:solidFill>
                <a:latin typeface="Calibri"/>
              </a:rPr>
              <a:t>Platinum Jubilee Innovation Challenge 2026  |  IIT Kharagpur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754880"/>
            <a:ext cx="9445752" cy="1828800"/>
          </a:xfrm>
          <a:prstGeom prst="rect">
            <a:avLst/>
          </a:prstGeom>
          <a:solidFill>
            <a:srgbClr val="0D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80974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libri"/>
              </a:rPr>
              <a:t>Team  MEGHDOOT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Vinay Arya   ·   Vikash Chandra   ·   Aman Kumar   ·   Shivam 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413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A0B8"/>
                </a:solidFill>
                <a:latin typeface="Calibri"/>
              </a:rPr>
              <a:t>School of Energy Science and Engineering, IIT Kharagpur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669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CA0B8"/>
                </a:solidFill>
                <a:latin typeface="Calibri"/>
              </a:rPr>
              <a:t>Mentor: Dr. Chirodeep Bakli  |  Associate Professor, SESE, IIT Kharagpur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2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CRITERION 1  |  Problem Significance &amp; 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9184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Cooling Problem at IIT Kharagpur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748272"/>
            <a:ext cx="10972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SHEETAL  |  Team MEGHDOOT  |  IIT Kharagpur  |  PJIC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07008"/>
            <a:ext cx="2788920" cy="17190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07008"/>
            <a:ext cx="27889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16736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920240"/>
            <a:ext cx="2606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Split AC units
across IIT KGP campus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377440"/>
            <a:ext cx="2606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CA0B8"/>
                </a:solidFill>
                <a:latin typeface="Calibri"/>
              </a:rPr>
              <a:t>Faculty, labs, hostels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207008"/>
            <a:ext cx="2788920" cy="17190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207008"/>
            <a:ext cx="27889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316736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15-25%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20240"/>
            <a:ext cx="2606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Efficiency drop
in peak summer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377440"/>
            <a:ext cx="2606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CA0B8"/>
                </a:solidFill>
                <a:latin typeface="Calibri"/>
              </a:rPr>
              <a:t>When demand is highest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207008"/>
            <a:ext cx="2788920" cy="171907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207008"/>
            <a:ext cx="27889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316736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45 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920240"/>
            <a:ext cx="2606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Peak ambient
temperature (KGP)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377440"/>
            <a:ext cx="2606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CA0B8"/>
                </a:solidFill>
                <a:latin typeface="Calibri"/>
              </a:rPr>
              <a:t>May-June every year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3144" y="1207008"/>
            <a:ext cx="2788920" cy="17190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53144" y="1207008"/>
            <a:ext cx="27889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584" y="1316736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Rs. Crores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1920240"/>
            <a:ext cx="2606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Annual campus
cooling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377440"/>
            <a:ext cx="2606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CA0B8"/>
                </a:solidFill>
                <a:latin typeface="Calibri"/>
              </a:rPr>
              <a:t>And growing every 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090672"/>
            <a:ext cx="11567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 b="1" i="0">
                <a:solidFill>
                  <a:srgbClr val="0A1F44"/>
                </a:solidFill>
                <a:latin typeface="Calibri"/>
              </a:rPr>
              <a:t>Why this problem matters: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•  IIT KGP's cooling is largely served by distributed split ACs — not centralised chilled water.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•  Split AC efficiency degrades in hot weather: the outdoor condenser must reject heat to increasingly hot ambient air,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   forcing the compressor to work harder — and consume more electricity — precisely when cooling demand is highest.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•  Replacing units is capital-intensive; most efficiency upgrades need extra energy, water, or maintenance.</a:t>
            </a:r>
          </a:p>
          <a:p>
            <a:pPr algn="l">
              <a:spcBef>
                <a:spcPts val="400"/>
              </a:spcBef>
            </a:pPr>
            <a:r>
              <a:rPr sz="1200" b="1" i="0">
                <a:solidFill>
                  <a:srgbClr val="C62828"/>
                </a:solidFill>
                <a:latin typeface="Calibri"/>
              </a:rPr>
              <a:t>•  Even a 5-10% improvement across 1000+ units yields substantial cumulative savings and meaningful carbon reduction.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2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CRITERION 1  |  Problem Significance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9184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Existing Approaches Fall Short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886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CA0B8"/>
                </a:solidFill>
                <a:latin typeface="Calibri"/>
              </a:rPr>
              <a:t>The gap that SHEETAL fills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748272"/>
            <a:ext cx="10972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SHEETAL  |  Team MEGHDOOT  |  IIT Kharagpur  |  PJIC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788920" cy="5212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2788920" cy="6400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80160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Replace
With New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993392"/>
            <a:ext cx="2651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✗  Rs. 30-60K per unit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✗  Major campus disruption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✗  Creates e-waste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✗  Not scalable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234440"/>
            <a:ext cx="2788920" cy="5212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234440"/>
            <a:ext cx="2788920" cy="6400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280160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Continuous
Water Spray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93392"/>
            <a:ext cx="2651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✗  Needs pump + piping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✗  Legionella / scaling risk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✗  High water demand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✗  Ongoing maintenance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234440"/>
            <a:ext cx="2788920" cy="5212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234440"/>
            <a:ext cx="2788920" cy="6400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280160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Shade Structures
/ Films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993392"/>
            <a:ext cx="2651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✗  Marginal gain (&lt; 3%)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✗  Can block airflow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✗  Structural load on wall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✗  No active cooling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53144" y="1234440"/>
            <a:ext cx="2788920" cy="5212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53144" y="1234440"/>
            <a:ext cx="27889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4584" y="1280160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SHEETAL
(Our Innovation)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1993392"/>
            <a:ext cx="2651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✓  Completely passive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✓  No pump / no power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✓  Retrofit in &lt; 30 min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✓  Est. 15-20% COP gain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2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CRITERION 2  |  Originality &amp; Creativity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9184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SHEETAL: The Proposed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748272"/>
            <a:ext cx="10972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SHEETAL  |  Team MEGHDOOT  |  IIT Kharagpur  |  PJIC 2026</a:t>
            </a:r>
          </a:p>
        </p:txBody>
      </p:sp>
      <p:pic>
        <p:nvPicPr>
          <p:cNvPr id="8" name="Picture 7" descr="SHEETAL_mode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557784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35040" y="1170432"/>
            <a:ext cx="5943600" cy="5394960"/>
          </a:xfrm>
          <a:prstGeom prst="rect">
            <a:avLst/>
          </a:prstGeom>
          <a:solidFill>
            <a:srgbClr val="0D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170432"/>
            <a:ext cx="59436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3258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What is SHEETAL?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581912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 PAM-LiCl hydrogel panel retrofitted onto the air intake of any split AC outdoor condenser unit.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560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Core mechanism: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816352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The hygroscopic hydrogel absorbs atmospheric moisture at night and releases it via evaporation during hot daytime periods, cooling the condenser inlet air by 4-10 °C.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947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What makes it novel: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050792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Applies atmospheric water harvesting + desiccant cooling principles as a zero-energy AC retrofit. No prior commercial product combines these into a passive condenser pre-cooler.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0292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Key advantage: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285232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Completely passive. No pump, no water supply, no external power, no structural change. Clips onto any condenser grille in under 30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2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CRITERION 3  |  Technical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9184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Working Mechanism: Day &amp; Night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748272"/>
            <a:ext cx="10972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SHEETAL  |  Team MEGHDOOT  |  IIT Kharagpur  |  PJIC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5623560" cy="5321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07008"/>
            <a:ext cx="562356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21615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Calibri"/>
              </a:rPr>
              <a:t>DAYTIME  —  Evaporative Cooling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719072"/>
            <a:ext cx="5413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1.  Hot ambient air (40-45 °C, RH 25-40%) sweeps the condenser intake.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350008"/>
            <a:ext cx="5413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2.  Air passes through the PAM-LiCl hydrogel panel.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980944"/>
            <a:ext cx="5413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3.  LiCl lowers the vapour pressure at the gel surface (aᵤ ≈ 0.80).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11879"/>
            <a:ext cx="5413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4.  Moisture evaporates from gel into the airstream → latent heat absorbed.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242816"/>
            <a:ext cx="5413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5.  Condenser inlet air temperature drops 4-10 °C.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873752"/>
            <a:ext cx="5413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6.  Cooler air → better heat rejection → lower compressor head pressure.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5504688"/>
            <a:ext cx="5413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7.  Compressor power reduces → lower electricity draw → higher COP.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8192" y="1207008"/>
            <a:ext cx="5806440" cy="5321808"/>
          </a:xfrm>
          <a:prstGeom prst="rect">
            <a:avLst/>
          </a:prstGeom>
          <a:solidFill>
            <a:srgbClr val="06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08192" y="1207008"/>
            <a:ext cx="5806440" cy="38404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2161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NIGHT  —  Autonomous Regeneration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1719072"/>
            <a:ext cx="5559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1.  Temperature drops (25-32 °C), relative humidity rises (60-80%).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350008"/>
            <a:ext cx="5559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2.  Gel equilibrium RH ≈ 80% (for 30 wt% LiCl) → below ambient RH.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980944"/>
            <a:ext cx="5559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3.  Atmospheric moisture flows into the gel (spontaneous adsorption).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611879"/>
            <a:ext cx="5559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4.  PAM matrix swells, storing water for the next day's cycle.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4242816"/>
            <a:ext cx="5559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5.  No pump, no valve, no active control — fully autonomous.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4873752"/>
            <a:ext cx="5559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6.  Hydrogel is fully recharged by morning.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5504688"/>
            <a:ext cx="5559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7.  Cycle repeats: like a desert beetle, every single 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2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CRITERION 3  |  Scientific Soundness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9184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PAM-LiCl Hydrogel: Material Selection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748272"/>
            <a:ext cx="10972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SHEETAL  |  Team MEGHDOOT  |  IIT Kharagpur  |  PJIC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611880" cy="24871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0759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Water Activity  (aᵤ)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55064"/>
            <a:ext cx="3429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0.75-0.85 at 30 wt% LiCl
(Conde 2004)
Equilibrium RH = 75-85%
Enables evaporation when
ambient RH &lt; 80%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234440"/>
            <a:ext cx="3611880" cy="24871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0759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Water Uptake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55064"/>
            <a:ext cx="3429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&gt; 5 g water / g polymer
(PAM hydrogel)
Thin 3 mm panel holds
enough water for 15-50 h
of continuous cooling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3611880" cy="248716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30759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Evaporation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655064"/>
            <a:ext cx="3429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 ≈ 50 μg/(m²·s)
(Analytical, 45°C, RH 30%)
Surface cooling: 4-10 K
COP improvement: ~15-20%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9424" y="3749039"/>
            <a:ext cx="3611880" cy="2487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9152" y="3822191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Self-Regeneration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169663"/>
            <a:ext cx="3429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Absorbs moisture from
humid night air passively
Cycle life: &gt; 500 cycles
(Li et al. 2018 ref.)
No cartridge replacement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3749039"/>
            <a:ext cx="3611880" cy="24871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822191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Synthesis &amp;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69663"/>
            <a:ext cx="3429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Free-radical polymerisation
Low-cost: AAm + MBA + LiCl
LiCl impregnation post-gelation
Scalable to sheet format
Est. material: Rs. 200-400/unit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28816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CA0B8"/>
                </a:solidFill>
                <a:latin typeface="Calibri"/>
              </a:rPr>
              <a:t>References: Conde (2004), Int. J. Refrig.; Li et al. (2018), Nat. Commun.; Zhao et al. (2019), Sci. Adv.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2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CRITERION 3  |  Technical Feasibility &amp; Scientific Soundness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9184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Analytical Model  (NTU-Effectiveness + Chilton-Colburn)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748272"/>
            <a:ext cx="10972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SHEETAL  |  Team MEGHDOOT  |  IIT Kharagpur  |  PJIC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2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CRITERION 3  |  Technical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9184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Key Model Predictions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748272"/>
            <a:ext cx="10972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SHEETAL  |  Team MEGHDOOT  |  IIT Kharagpur  |  PJIC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2788920" cy="31546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27889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6187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Condenser Inlet
Temp. Drop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10512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4.4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542032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CA0B8"/>
                </a:solidFill>
                <a:latin typeface="Calibri"/>
              </a:rPr>
              <a:t>Bulk air: 45 °C → 40.6 °C
(40 cm panel, u=0.35 m/s)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207008"/>
            <a:ext cx="2788920" cy="3154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207008"/>
            <a:ext cx="27889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26187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COP Improvement
(Estimated)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1810512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~20%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542032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CA0B8"/>
                </a:solidFill>
                <a:latin typeface="Calibri"/>
              </a:rPr>
              <a:t>Carnot-based, T_cond
drop of ~5 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1207008"/>
            <a:ext cx="2788920" cy="3154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1207008"/>
            <a:ext cx="27889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126187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A1F44"/>
                </a:solidFill>
                <a:latin typeface="Calibri"/>
              </a:rPr>
              <a:t>Nu / Sh
(Graetz Corr.)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1810512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1F44"/>
                </a:solidFill>
                <a:latin typeface="Calibri"/>
              </a:rPr>
              <a:t>6.2 / 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542032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A1F44"/>
                </a:solidFill>
                <a:latin typeface="Calibri"/>
              </a:rPr>
              <a:t>Entry-length correction
Re = 413, Pr = 0.69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8864" y="1207008"/>
            <a:ext cx="2788920" cy="3154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4" y="1207008"/>
            <a:ext cx="27889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126187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Panel Endurance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810512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15-50 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542032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CA0B8"/>
                </a:solidFill>
                <a:latin typeface="Calibri"/>
              </a:rPr>
              <a:t>3-10 mm PAM-LiCl
before night recharge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526280"/>
            <a:ext cx="11640312" cy="2011680"/>
          </a:xfrm>
          <a:prstGeom prst="rect">
            <a:avLst/>
          </a:prstGeom>
          <a:solidFill>
            <a:srgbClr val="0D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5537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  <a:latin typeface="Calibri"/>
              </a:rPr>
              <a:t>Governing equations (base case: L=40 cm, H=20 mm, u=0.35 m/s, T_in=45°C, RH=30%, PAM-LiCl 30 wt%)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82896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h_conv = Nu * k_air / H = 8.42 W/(m²K)     NTU_T = h_conv * L / (G * c_p) = 0.42     T_out = T_gel + (T_in - T_gel) * exp(-NTU_T)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3766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h_mass = Sh * D_vap / H = 9.05 mm/s      NTU_m = h_mass * L / (u * H) = 0.52       omega_out = omega_gel + (omega_in - omega_gel) * exp(-NTU_m)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87044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omega_gel = a_w(w_LiCl) * omega_sat(T_gel)       j_evap = rho * h_mass * (omega_gel - omega_air)       Endurance = m_water / j_evap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2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CRITERION 5  |  Prototype Quality &amp; Development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9184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Prototype Design &amp; Experimental Validation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748272"/>
            <a:ext cx="10972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SHEETAL  |  Team MEGHDOOT  |  IIT Kharagpur  |  PJIC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251960" cy="53492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07008"/>
            <a:ext cx="425196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280160"/>
            <a:ext cx="4069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Technology Readiness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4069080" cy="4572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739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DONE  Basic principles observed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49424"/>
            <a:ext cx="4069080" cy="4572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042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DONE  Technology concept formulated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79776"/>
            <a:ext cx="4069080" cy="457200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346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TRL 3  Experimental PoC (next 2 weeks)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10127"/>
            <a:ext cx="4069080" cy="457200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364991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TRL 4  Lab-scale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79"/>
            <a:ext cx="4069080" cy="457200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95343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TRL 5  Relevant environment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70831"/>
            <a:ext cx="4069080" cy="457200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25695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TRL 6  Prototype demo in situ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01183"/>
            <a:ext cx="4069080" cy="457200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56047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TRL 7  System prototype operational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31536"/>
            <a:ext cx="4069080" cy="457200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48639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TRL 8  System complete &amp; qualified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961888"/>
            <a:ext cx="4069080" cy="457200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016751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TRL 9  Deployment proven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1207008"/>
            <a:ext cx="7178040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1207008"/>
            <a:ext cx="7178040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4608" y="1280160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Calibri"/>
              </a:rPr>
              <a:t>Prototype &amp; Validation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173736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Calibri"/>
              </a:rPr>
              <a:t>Phase 1 — Hydrogel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1993391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Synthesise PAM-LiCl sheets (30 wt% LiCl). Measure water uptake, a_w, evaporation rate at 35-45 °C in lab.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615184"/>
            <a:ext cx="7178040" cy="18288"/>
          </a:xfrm>
          <a:prstGeom prst="rect">
            <a:avLst/>
          </a:prstGeom>
          <a:solidFill>
            <a:srgbClr val="8C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2688336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Calibri"/>
              </a:rPr>
              <a:t>Phase 2 — Bench Channel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2944368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Lab-scale air channel (40x20 mm). Heater + hygrometer. Measure DeltaT and j_evap. Validate vs. analytical model.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3566160"/>
            <a:ext cx="7178040" cy="18288"/>
          </a:xfrm>
          <a:prstGeom prst="rect">
            <a:avLst/>
          </a:prstGeom>
          <a:solidFill>
            <a:srgbClr val="8C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3639312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Calibri"/>
              </a:rPr>
              <a:t>Phase 3 — Condenser Mockup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3895344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Aluminium frame + gel panel for standard 1.5T split AC (800x550 mm face). Test fit and pressure drop.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4517136"/>
            <a:ext cx="7178040" cy="18288"/>
          </a:xfrm>
          <a:prstGeom prst="rect">
            <a:avLst/>
          </a:prstGeom>
          <a:solidFill>
            <a:srgbClr val="8C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4590288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Calibri"/>
              </a:rPr>
              <a:t>Phase 4 — Field Trial (SESE Building)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4846320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Install on 2-3 AC units. Log compressor current, power, indoor T over 2-4 weeks. Compare with controls.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5468112"/>
            <a:ext cx="7178040" cy="18288"/>
          </a:xfrm>
          <a:prstGeom prst="rect">
            <a:avLst/>
          </a:prstGeom>
          <a:solidFill>
            <a:srgbClr val="8C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5541264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Calibri"/>
              </a:rPr>
              <a:t>Key Metrics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5797296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DeltaT_condenser, DeltaW_compressor, COP_before vs COP_after, gel recharge time, daily water balance.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6419088"/>
            <a:ext cx="7178040" cy="18288"/>
          </a:xfrm>
          <a:prstGeom prst="rect">
            <a:avLst/>
          </a:prstGeom>
          <a:solidFill>
            <a:srgbClr val="8C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2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CRITERION 4  |  Impact Potential: Scale, Depth &amp; 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9184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Big Can This Get?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748272"/>
            <a:ext cx="10972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SHEETAL  |  Team MEGHDOOT  |  IIT Kharagpur  |  PJIC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2852928" cy="528523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07008"/>
            <a:ext cx="285292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261872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IIT KGP 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66420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A623"/>
                </a:solidFill>
                <a:latin typeface="Calibri"/>
              </a:rPr>
              <a:t>~1000 split AC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84831"/>
            <a:ext cx="267004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20% COP improvement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15-25% electricity saving on AC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Meaningful carbon reduction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Visible net-zero contribution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207008"/>
            <a:ext cx="2852928" cy="52852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207008"/>
            <a:ext cx="285292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261872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Indian Campuses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66420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A623"/>
                </a:solidFill>
                <a:latin typeface="Calibri"/>
              </a:rPr>
              <a:t>&gt;1000 universities / IITs / 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084831"/>
            <a:ext cx="267004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Millions of split AC units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Procurement via sustainability MoU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Replicable IIT Kharagpur model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Central govt. green campus push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207008"/>
            <a:ext cx="2852928" cy="528523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07008"/>
            <a:ext cx="285292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261872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Indian Residential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66420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A623"/>
                </a:solidFill>
                <a:latin typeface="Calibri"/>
              </a:rPr>
              <a:t>300 million+ AC units in 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084831"/>
            <a:ext cx="267004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World's fastest-growing AC market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No infrastructure change needed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Works on any split AC brand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Affordable retrofit for 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207008"/>
            <a:ext cx="2852928" cy="52852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207008"/>
            <a:ext cx="285292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448" y="1261872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Global South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166420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A623"/>
                </a:solidFill>
                <a:latin typeface="Calibri"/>
              </a:rPr>
              <a:t>Hot &amp; humid tropical climates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084831"/>
            <a:ext cx="267004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Maximum benefit in hot countries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No grid power required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Climate adaptation technology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•  Aligns with SDG 7 &amp; SDG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2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CRITERION 6  |  Business &amp; Implementation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9184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Path to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748272"/>
            <a:ext cx="10972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SHEETAL  |  Team MEGHDOOT  |  IIT Kharagpur  |  PJIC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5486400" cy="53492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07008"/>
            <a:ext cx="54864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Unit Economics (Estimated)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190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CA0B8"/>
                </a:solidFill>
                <a:latin typeface="Calibri"/>
              </a:rPr>
              <a:t>Material cost (per unit):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71907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5A623"/>
                </a:solidFill>
                <a:latin typeface="Calibri"/>
              </a:rPr>
              <a:t>~Rs. 200-400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84831"/>
            <a:ext cx="5212080" cy="18288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3969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CA0B8"/>
                </a:solidFill>
                <a:latin typeface="Calibri"/>
              </a:rPr>
              <a:t>Frame + fitting hardware: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13969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5A623"/>
                </a:solidFill>
                <a:latin typeface="Calibri"/>
              </a:rPr>
              <a:t>~Rs. 300-500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05456"/>
            <a:ext cx="5212080" cy="18288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56032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CA0B8"/>
                </a:solidFill>
                <a:latin typeface="Calibri"/>
              </a:rPr>
              <a:t>Total manufacturing cost: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56032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5A623"/>
                </a:solidFill>
                <a:latin typeface="Calibri"/>
              </a:rPr>
              <a:t>~Rs. 500-900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26079"/>
            <a:ext cx="5212080" cy="18288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8094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CA0B8"/>
                </a:solidFill>
                <a:latin typeface="Calibri"/>
              </a:rPr>
              <a:t>Retail price (2x markup):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98094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5A623"/>
                </a:solidFill>
                <a:latin typeface="Calibri"/>
              </a:rPr>
              <a:t>~Rs. 1,000-1,800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46703"/>
            <a:ext cx="5212080" cy="18288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40156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CA0B8"/>
                </a:solidFill>
                <a:latin typeface="Calibri"/>
              </a:rPr>
              <a:t>Annual electricity saving: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4015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5A623"/>
                </a:solidFill>
                <a:latin typeface="Calibri"/>
              </a:rPr>
              <a:t>~Rs. 1,500-4,000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67328"/>
            <a:ext cx="5212080" cy="18288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82219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CA0B8"/>
                </a:solidFill>
                <a:latin typeface="Calibri"/>
              </a:rPr>
              <a:t>Simple payback period: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822191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5A623"/>
                </a:solidFill>
                <a:latin typeface="Calibri"/>
              </a:rPr>
              <a:t>&lt; 6 months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87952"/>
            <a:ext cx="5212080" cy="18288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24281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CA0B8"/>
                </a:solidFill>
                <a:latin typeface="Calibri"/>
              </a:rPr>
              <a:t>Panel lifespan: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24281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5A623"/>
                </a:solidFill>
                <a:latin typeface="Calibri"/>
              </a:rPr>
              <a:t>&gt; 3 years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08576"/>
            <a:ext cx="5212080" cy="18288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66344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CA0B8"/>
                </a:solidFill>
                <a:latin typeface="Calibri"/>
              </a:rPr>
              <a:t>ROI over 3 years: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66344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5A623"/>
                </a:solidFill>
                <a:latin typeface="Calibri"/>
              </a:rPr>
              <a:t>4-10x investment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29200"/>
            <a:ext cx="5212080" cy="18288"/>
          </a:xfrm>
          <a:prstGeom prst="rect">
            <a:avLst/>
          </a:prstGeom>
          <a:solidFill>
            <a:srgbClr val="1A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89320" y="1207008"/>
            <a:ext cx="5943600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1207008"/>
            <a:ext cx="5943600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08192" y="126187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Calibri"/>
              </a:rPr>
              <a:t>Go-to-Market Strategy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171907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Calibri"/>
              </a:rPr>
              <a:t>Phase 1 (0-6 months) — Campus 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1975104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Install on 50 AC units at IIT KGP. Publish performance data. Build credibility with real numbers.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2596896"/>
            <a:ext cx="5943600" cy="18288"/>
          </a:xfrm>
          <a:prstGeom prst="rect">
            <a:avLst/>
          </a:prstGeom>
          <a:solidFill>
            <a:srgbClr val="8C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267004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Calibri"/>
              </a:rPr>
              <a:t>Phase 2 (6-18 months) — Institute 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292608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License to 10 IITs / NITs via campus sustainability procurement MoU.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547872"/>
            <a:ext cx="5943600" cy="18288"/>
          </a:xfrm>
          <a:prstGeom prst="rect">
            <a:avLst/>
          </a:prstGeom>
          <a:solidFill>
            <a:srgbClr val="8C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362102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Calibri"/>
              </a:rPr>
              <a:t>Phase 3 (18-36 months) — B2B Channel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3877056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Partner with AC service companies (Daikin, Voltas, Blue Star dealers) as an add-on retrofit product.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4498848"/>
            <a:ext cx="5943600" cy="18288"/>
          </a:xfrm>
          <a:prstGeom prst="rect">
            <a:avLst/>
          </a:prstGeom>
          <a:solidFill>
            <a:srgbClr val="8C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4572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Calibri"/>
              </a:rPr>
              <a:t>Phase 4 (3+ years) — Consumer Retail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828032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D2C via Amazon / Flipkart. Self-install kit format. Refill cartridge subscription (~Rs. 200/year).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5449824"/>
            <a:ext cx="5943600" cy="18288"/>
          </a:xfrm>
          <a:prstGeom prst="rect">
            <a:avLst/>
          </a:prstGeom>
          <a:solidFill>
            <a:srgbClr val="8C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552297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1F44"/>
                </a:solidFill>
                <a:latin typeface="Calibri"/>
              </a:rPr>
              <a:t>Revenue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5779008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Product sale + annual refill subscription. Institutional bulk pricing for colleges and housing societies.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6400800"/>
            <a:ext cx="5943600" cy="18288"/>
          </a:xfrm>
          <a:prstGeom prst="rect">
            <a:avLst/>
          </a:prstGeom>
          <a:solidFill>
            <a:srgbClr val="8C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Team  MEGHDOOT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CA0B8"/>
                </a:solidFill>
                <a:latin typeface="Calibri"/>
              </a:rPr>
              <a:t>School of Energy Science and Engineering  |  IIT Kharagpur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2834640" cy="26517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89888"/>
            <a:ext cx="28346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447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Vinay Arya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105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A623"/>
                </a:solidFill>
                <a:latin typeface="Calibri"/>
              </a:rPr>
              <a:t>20ES91R07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0574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Institute Post-Doctoral Fellow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23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A0B8"/>
                </a:solidFill>
                <a:latin typeface="Calibri"/>
              </a:rPr>
              <a:t>vinayarya@kgpian.iitkgp.ac.in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389888"/>
            <a:ext cx="2834640" cy="2651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1389888"/>
            <a:ext cx="28346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4447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Vikash Chandra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18105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A623"/>
                </a:solidFill>
                <a:latin typeface="Calibri"/>
              </a:rPr>
              <a:t>22ES92R03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0574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PhD Scholar, SESE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6" y="2423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A0B8"/>
                </a:solidFill>
                <a:latin typeface="Calibri"/>
              </a:rPr>
              <a:t>vikash.es@kgpian.iitkgp.ac.in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1389888"/>
            <a:ext cx="2834640" cy="26517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1389888"/>
            <a:ext cx="28346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14447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Aman Kumar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18105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A623"/>
                </a:solidFill>
                <a:latin typeface="Calibri"/>
              </a:rPr>
              <a:t>25ES60R03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0574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M.Tech Student, SESE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423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A0B8"/>
                </a:solidFill>
                <a:latin typeface="Calibri"/>
              </a:rPr>
              <a:t>aman1825@kgpian.iitkgp.ac.in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44584" y="1389888"/>
            <a:ext cx="2834640" cy="2651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44584" y="1389888"/>
            <a:ext cx="28346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2" y="14447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Shivam Kumar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18105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A623"/>
                </a:solidFill>
                <a:latin typeface="Calibri"/>
              </a:rPr>
              <a:t>25ES60R11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2" y="20574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M.Tech Student, SESE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423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A0B8"/>
                </a:solidFill>
                <a:latin typeface="Calibri"/>
              </a:rPr>
              <a:t>kshivam511725@kgpian.iitkgp.ac.in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4206240"/>
            <a:ext cx="9445752" cy="1280160"/>
          </a:xfrm>
          <a:prstGeom prst="rect">
            <a:avLst/>
          </a:prstGeom>
          <a:solidFill>
            <a:srgbClr val="0D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71600" y="4206240"/>
            <a:ext cx="94457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8760" y="4251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Mentor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498848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Dr. Chirodeep Bakli  |  Associate Professor, SESE, IIT Kharagpur  |  cbakli@iitkgp.ac.in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650992"/>
            <a:ext cx="11640312" cy="960120"/>
          </a:xfrm>
          <a:prstGeom prst="rect">
            <a:avLst/>
          </a:prstGeom>
          <a:solidFill>
            <a:srgbClr val="06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724144"/>
            <a:ext cx="11292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SHEETAL is not just an idea — it is a thermodynamically grounded, low-cost, and passively
scalable solution ready to begin deployment within IIT Kharagpur this academic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